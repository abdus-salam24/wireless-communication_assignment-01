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59640" cy="22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5964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5964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86D472-E6F2-4D70-9155-6A9F4E5554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318DC1-0BED-4177-96AD-9D904CCB72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460E29-2FD5-4191-8581-9EADA2592B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70E8E6-4A31-450B-858F-66397B3781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4CAE75-2619-46CC-827E-0E2C8FE637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59640" cy="221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0A039B-D110-4C3C-888D-FD40686E69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29CCA1-10FC-4900-B027-D61198CECD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2FB168-CDE3-4FDD-9682-BEA80F9FEC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5964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8688C6-0C10-48F5-9F4C-AE633D7863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5964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8552D0-833E-4B44-A6DD-BC6C2B1682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983CE0-6C6F-416E-A342-DC83A89B0D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B736F8-58AD-499B-B30E-7DAE87B183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-720" y="4499280"/>
            <a:ext cx="10079640" cy="116964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" name=""/>
          <p:cNvSpPr/>
          <p:nvPr/>
        </p:nvSpPr>
        <p:spPr>
          <a:xfrm>
            <a:off x="36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3420000" y="5220000"/>
            <a:ext cx="323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738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176FA50E-4DB6-43DC-9DD7-627F11088237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1</a:t>
            </a:fld>
            <a:endParaRPr b="0" lang="en-US" sz="1400" spc="-1" strike="noStrike"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9640" cy="47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76400" cy="7196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3240" y="5040000"/>
            <a:ext cx="10076400" cy="6310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9640" cy="47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1"/>
          </p:nvPr>
        </p:nvSpPr>
        <p:spPr>
          <a:xfrm>
            <a:off x="3420000" y="5220000"/>
            <a:ext cx="32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"/>
          </p:nvPr>
        </p:nvSpPr>
        <p:spPr>
          <a:xfrm>
            <a:off x="738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F46554-DBCB-4DDD-97B3-49C4C9D3B90A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dt" idx="3"/>
          </p:nvPr>
        </p:nvSpPr>
        <p:spPr>
          <a:xfrm>
            <a:off x="36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548280"/>
            <a:ext cx="8999640" cy="177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8d281e"/>
                </a:solidFill>
                <a:latin typeface="Calibri"/>
              </a:rPr>
              <a:t>Infrared Communication: Short-Range Wireless Technology</a:t>
            </a:r>
            <a:endParaRPr b="0" lang="en-US" sz="4000" spc="-1" strike="noStrike">
              <a:solidFill>
                <a:srgbClr val="8d281e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828800" y="2514600"/>
            <a:ext cx="7086240" cy="21376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latin typeface="Arial"/>
              </a:rPr>
              <a:t>Presented by:</a:t>
            </a:r>
            <a:endParaRPr b="0" lang="en-US" sz="21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10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latin typeface="Arial"/>
              </a:rPr>
              <a:t>Abdus Salam</a:t>
            </a:r>
            <a:endParaRPr b="0" lang="en-US" sz="18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700" spc="-1" strike="noStrike">
                <a:latin typeface="Arial"/>
              </a:rPr>
              <a:t>IT-21016</a:t>
            </a:r>
            <a:endParaRPr b="0" lang="en-US" sz="17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700" spc="-1" strike="noStrike">
                <a:latin typeface="Arial"/>
              </a:rPr>
              <a:t>Department of Information and Communication Technology</a:t>
            </a:r>
            <a:endParaRPr b="0" lang="en-US" sz="17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700" spc="-1" strike="noStrike">
                <a:latin typeface="Arial"/>
              </a:rPr>
              <a:t>Mawlana Bhashani Science &amp; Technology University </a:t>
            </a:r>
            <a:endParaRPr b="0" lang="en-US" sz="17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700" spc="-1" strike="noStrike">
                <a:latin typeface="Arial"/>
              </a:rPr>
              <a:t>Santosh,Tangail-1902.</a:t>
            </a:r>
            <a:endParaRPr b="0" lang="en-US" sz="1700" spc="-1" strike="noStrike"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Introduction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28600" y="914400"/>
            <a:ext cx="6013800" cy="38862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Infrared means 'below red' in        the electro-magnetic spectrum.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Wavelength: 700 nm to 1 mm.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Used in short-range, line-of-          sight communication.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Example: TV and air conditioner    remotes.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Developed as a low-cost                wireless alternative.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6242400" y="857520"/>
            <a:ext cx="3838320" cy="3657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211FF8-1B58-4BD6-BC4F-2ACB6B231AD8}" type="slidenum">
              <a:t>2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69E76685-B42F-4BA5-AF83-1793B81F9034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0000" y="0"/>
            <a:ext cx="9359640" cy="82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Basic Principle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28600" y="914400"/>
            <a:ext cx="5715000" cy="36572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Communication through          infrared light waves.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Transmitter: Infrared LED.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Receiver: Photo-diode or         phototransistor.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is sent as light pulses     representing binary data.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Requires direct line-of-sight    between devices.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5943600" y="1371600"/>
            <a:ext cx="4136040" cy="2971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22E665-EDD8-463E-857E-B414856DAC11}" type="slidenum">
              <a:t>3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AC4F007D-3334-4DBB-AF8C-A2769CAE451A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Types of Infrared Communication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28600" y="914400"/>
            <a:ext cx="5715000" cy="388584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Point-to-Point: Direct                 between two devices (e.g.,       remote and TV).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Diffuse: Signals reflected          from walls or ceilings.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3. Ir-DA Standard: High-speed       data exchange between            laptops or phones(old tech).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5943600" y="914400"/>
            <a:ext cx="4137120" cy="3429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9925A9-6600-42F4-976B-30E4A0AEFA0E}" type="slidenum">
              <a:t>4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2A5C872A-051D-4E20-8529-4EF7F1551D1B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Characteristics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7" name="Content Placeholder 2"/>
          <p:cNvSpPr/>
          <p:nvPr/>
        </p:nvSpPr>
        <p:spPr>
          <a:xfrm>
            <a:off x="254520" y="914400"/>
            <a:ext cx="5917680" cy="40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Range: 1 to 5 meters.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Requires clear line-of-sight.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Highly directional signals.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Low power consumption.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rate: Up to 16 Mbps (IrDA standard).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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Free from radio interference.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943600" y="914400"/>
            <a:ext cx="4114800" cy="3657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6C5A37-0C73-4912-8C57-EE70FD71A650}" type="slidenum">
              <a:t>5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0AED9BC4-6B56-4192-B226-69246B69206E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Advantages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0" name="Content Placeholder 1"/>
          <p:cNvSpPr/>
          <p:nvPr/>
        </p:nvSpPr>
        <p:spPr>
          <a:xfrm>
            <a:off x="228600" y="745200"/>
            <a:ext cx="5943600" cy="40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Low cost and easy to                 implement.</a:t>
            </a:r>
            <a:endParaRPr b="0" lang="en-US" sz="2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High security cannot                 penetrate walls.</a:t>
            </a:r>
            <a:endParaRPr b="0" lang="en-US" sz="2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Low power usage battery          friendly.</a:t>
            </a:r>
            <a:endParaRPr b="0" lang="en-US" sz="2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No interference from radio        signals.</a:t>
            </a:r>
            <a:endParaRPr b="0" lang="en-US" sz="2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Simple and reliable technology.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6172200" y="745200"/>
            <a:ext cx="3929400" cy="4284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07E6FA-3E7F-49AB-BBC7-54A8CE105FDC}" type="slidenum">
              <a:t>6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D1651C94-3E8A-4F10-AFF1-F8EDCAB172EA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Disadvantages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3" name="Content Placeholder 3"/>
          <p:cNvSpPr/>
          <p:nvPr/>
        </p:nvSpPr>
        <p:spPr>
          <a:xfrm>
            <a:off x="228600" y="914400"/>
            <a:ext cx="59436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Short communication range     (1–5 meters).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Requires line-of-sight-blocked  by obstacles.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Affected by sunlight or bright  indoor lights.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Slower data rate compared      to Wi-Fi or Bluetooth.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6172200" y="745200"/>
            <a:ext cx="3885840" cy="4284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9C8F82-119D-4944-8AD4-2AA6031838B6}" type="slidenum">
              <a:t>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75D446CF-2FBA-4E49-B2F2-9236D8AFAB24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Applications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6" name="Content Placeholder 4"/>
          <p:cNvSpPr/>
          <p:nvPr/>
        </p:nvSpPr>
        <p:spPr>
          <a:xfrm>
            <a:off x="228600" y="745200"/>
            <a:ext cx="6858000" cy="42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Remote controls: TVs, AC,       projectors.</a:t>
            </a:r>
            <a:endParaRPr b="0" lang="en-US" sz="2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Wireless data transfer (older   devices with Ir-DA).</a:t>
            </a:r>
            <a:endParaRPr b="0" lang="en-US" sz="2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Sensors: Motion detectors,      automatic doors.</a:t>
            </a:r>
            <a:endParaRPr b="0" lang="en-US" sz="2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Security systems: Intrusion     detection.</a:t>
            </a:r>
            <a:endParaRPr b="0" lang="en-US" sz="2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Industrial and medical instruments.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6400800" y="914400"/>
            <a:ext cx="3657240" cy="3886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D699BE-BF52-4689-80D7-85F66663A3E2}" type="slidenum">
              <a:t>8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9F6B05BA-766D-4E06-AF6C-5E4216C43E58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Example – TV Remote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9" name="Content Placeholder 5"/>
          <p:cNvSpPr/>
          <p:nvPr/>
        </p:nvSpPr>
        <p:spPr>
          <a:xfrm>
            <a:off x="228600" y="1143000"/>
            <a:ext cx="685800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Button pressed → circuit                  generates binary code.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IR LED sends modulated light          pulses.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3. TV receiver detects and decodes     signal.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4. TV performs the desired action.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7086600" y="745200"/>
            <a:ext cx="2994120" cy="4284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11169F-CA4B-4D1B-ABFA-978547D81D52}" type="slidenum">
              <a:t>9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D7141C91-3BFC-4CA3-9EDC-CFE51DC94C97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Modern Uses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2" name="Content Placeholder 6"/>
          <p:cNvSpPr/>
          <p:nvPr/>
        </p:nvSpPr>
        <p:spPr>
          <a:xfrm>
            <a:off x="228600" y="882000"/>
            <a:ext cx="5715000" cy="41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Smart remotes and home         automation systems.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IR sensors in robotics and         obstacle detection.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Thermal imaging and night-      vision cameras.</a:t>
            </a:r>
            <a:endParaRPr b="0" lang="en-US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Gesture-based control systems.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5715000" y="685800"/>
            <a:ext cx="4343400" cy="4343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EB033A-3AD1-4AA0-BC16-A0EE157C3A77}" type="slidenum">
              <a:t>10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FB8E8CEC-7901-4DE4-A62E-A7BB44476C36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60000" y="92880"/>
            <a:ext cx="9359640" cy="65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Conclusion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Content Placeholder 7"/>
          <p:cNvSpPr/>
          <p:nvPr/>
        </p:nvSpPr>
        <p:spPr>
          <a:xfrm>
            <a:off x="228600" y="745200"/>
            <a:ext cx="5715000" cy="42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</a:rPr>
              <a:t>Infrared is a secure, simple,        and low-cost short- range            communication technology.</a:t>
            </a:r>
            <a:endParaRPr b="0" lang="en-US" sz="2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</a:rPr>
              <a:t>Works best for device control and sensor applications.</a:t>
            </a:r>
            <a:endParaRPr b="0" lang="en-US" sz="2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</a:rPr>
              <a:t>Though replaced by Bluetooth and Wi-Fi, it remains relevant in many embedded systems.</a:t>
            </a:r>
            <a:endParaRPr b="0" lang="en-US" sz="2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</a:rPr>
              <a:t>Invisible light continues to play a visible role in communication.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5943600" y="745200"/>
            <a:ext cx="4147200" cy="4284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1BFFE0-7705-4F76-954C-356670A897BC}" type="slidenum">
              <a:t>11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F155101C-0B90-417E-AC99-4D1C8DE8C95D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60000" y="106200"/>
            <a:ext cx="9359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 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685800" y="731520"/>
            <a:ext cx="8229600" cy="4297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3E0D02-8CD8-4557-AF0E-840B3B110704}" type="slidenum">
              <a:t>12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E502F3CC-8B5B-4A39-8D3D-B135DCB217C5}" type="datetime1">
              <a:rPr lang="en-US"/>
              <a:t>11/08/2025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2025-10-31T20:15:24Z</dcterms:created>
  <dc:creator/>
  <dc:description/>
  <dc:language>en-US</dc:language>
  <cp:lastModifiedBy/>
  <dcterms:modified xsi:type="dcterms:W3CDTF">2025-11-08T20:30:05Z</dcterms:modified>
  <cp:revision>8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