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ubTitle"/>
          </p:nvPr>
        </p:nvSpPr>
        <p:spPr>
          <a:xfrm>
            <a:off x="360000" y="180000"/>
            <a:ext cx="9360000" cy="221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/>
          </p:nvPr>
        </p:nvSpPr>
        <p:spPr>
          <a:xfrm>
            <a:off x="35247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/>
          </p:nvPr>
        </p:nvSpPr>
        <p:spPr>
          <a:xfrm>
            <a:off x="66891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/>
          </p:nvPr>
        </p:nvSpPr>
        <p:spPr>
          <a:xfrm>
            <a:off x="36000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0" name="PlaceHolder 6"/>
          <p:cNvSpPr>
            <a:spLocks noGrp="1"/>
          </p:cNvSpPr>
          <p:nvPr>
            <p:ph/>
          </p:nvPr>
        </p:nvSpPr>
        <p:spPr>
          <a:xfrm>
            <a:off x="35247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1" name="PlaceHolder 7"/>
          <p:cNvSpPr>
            <a:spLocks noGrp="1"/>
          </p:cNvSpPr>
          <p:nvPr>
            <p:ph/>
          </p:nvPr>
        </p:nvSpPr>
        <p:spPr>
          <a:xfrm>
            <a:off x="66891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E5CF8A-166E-4C57-87FF-E8BEDE1D7BA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E546977-2F6F-442F-986E-63F999CEB76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5367CF5-47EE-43E6-B042-4E7F479FB62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16EE58-1D91-4CE6-80DF-CC2F7D9B78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61E5D29-4FBA-4967-B4D3-0194E4420AB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360000" y="180000"/>
            <a:ext cx="9360000" cy="221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highlight>
                <a:srgbClr val="ffffff"/>
              </a:highlight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ED6C441-4D07-4253-AF7E-1FF8756A76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D7D889C-3052-443E-95B7-38A67C34F5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CEBA104-5123-4C96-92CC-375E61D1315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947F1EA-B3E9-4520-8C4B-8571694902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360000" y="2960280"/>
            <a:ext cx="936000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DA99EC0-3AAD-458D-96F5-00570B86BF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5155920" y="108000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6000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5155920" y="2960280"/>
            <a:ext cx="45673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16C91F-5556-441C-A0E6-8A49BAB83CE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5247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6689160" y="108000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36000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5247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6689160" y="2960280"/>
            <a:ext cx="301356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CDCAD06-8D69-48D6-BAA9-A771EA947CE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 flipH="1" flipV="1">
            <a:off x="0" y="4500000"/>
            <a:ext cx="1008000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dd4100"/>
                </a:solidFill>
                <a:latin typeface="Arial"/>
              </a:rPr>
              <a:t>Click to edit the title text format</a:t>
            </a:r>
            <a:endParaRPr b="0" lang="en-US" sz="33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60000" cy="16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8000"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9bdd"/>
                </a:solidFill>
                <a:latin typeface="Arial"/>
              </a:rPr>
              <a:t>Second Outline Level</a:t>
            </a:r>
            <a:endParaRPr b="0" lang="en-US" sz="2100" spc="-1" strike="noStrike">
              <a:solidFill>
                <a:srgbClr val="009bdd"/>
              </a:solidFill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9bdd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9bdd"/>
              </a:solidFill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Fourth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Fifth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Sixth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Seventh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"/>
          <p:cNvSpPr txBox="1"/>
          <p:nvPr/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"/>
          <p:cNvSpPr txBox="1"/>
          <p:nvPr/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>
              <a:buNone/>
            </a:pPr>
            <a:fld id="{E85D99AE-2805-49ED-819F-86ABA38AD301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>
            <a:off x="0" y="0"/>
            <a:ext cx="10076760" cy="7200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" name=""/>
          <p:cNvSpPr/>
          <p:nvPr/>
        </p:nvSpPr>
        <p:spPr>
          <a:xfrm>
            <a:off x="3240" y="5040000"/>
            <a:ext cx="10076760" cy="6314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st="10800" dir="5400000" blurRad="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60000" cy="478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33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3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6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9bdd"/>
                </a:solidFill>
                <a:latin typeface="Arial"/>
              </a:rPr>
              <a:t>Click to edit the outline text format</a:t>
            </a:r>
            <a:endParaRPr b="0" lang="en-US" sz="2400" spc="-1" strike="noStrike">
              <a:solidFill>
                <a:srgbClr val="009bdd"/>
              </a:solidFill>
              <a:latin typeface="Arial"/>
            </a:endParaRPr>
          </a:p>
          <a:p>
            <a:pPr lvl="1" marL="864000" indent="-324000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9bdd"/>
                </a:solidFill>
                <a:latin typeface="Arial"/>
              </a:rPr>
              <a:t>Second Outline Level</a:t>
            </a:r>
            <a:endParaRPr b="0" lang="en-US" sz="2100" spc="-1" strike="noStrike">
              <a:solidFill>
                <a:srgbClr val="009bdd"/>
              </a:solidFill>
              <a:latin typeface="Arial"/>
            </a:endParaRPr>
          </a:p>
          <a:p>
            <a:pPr lvl="2" marL="1296000" indent="-288000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9bdd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9bdd"/>
              </a:solidFill>
              <a:latin typeface="Arial"/>
            </a:endParaRPr>
          </a:p>
          <a:p>
            <a:pPr lvl="3" marL="1728000" indent="-216000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Fourth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4" marL="2160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Fifth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5" marL="2592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Sixth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  <a:p>
            <a:pPr lvl="6" marL="3024000" indent="-216000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b="0" lang="en-US" sz="1500" spc="-1" strike="noStrike">
                <a:solidFill>
                  <a:srgbClr val="009bdd"/>
                </a:solidFill>
                <a:latin typeface="Arial"/>
              </a:rPr>
              <a:t>Seventh Outline Level</a:t>
            </a:r>
            <a:endParaRPr b="0" lang="en-US" sz="15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&lt;date/time&gt;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solidFill>
                  <a:srgbClr val="ffffff"/>
                </a:solidFill>
                <a:latin typeface="Arial"/>
              </a:defRPr>
            </a:lvl1pPr>
          </a:lstStyle>
          <a:p>
            <a:pPr algn="r">
              <a:buNone/>
            </a:pPr>
            <a:fld id="{5B34A0A0-19FC-4E39-A29B-CC0FDA519287}" type="slidenum">
              <a:rPr b="0" lang="en-US" sz="1400" spc="-1" strike="noStrike">
                <a:solidFill>
                  <a:srgbClr val="ffffff"/>
                </a:solidFill>
                <a:latin typeface="Arial"/>
              </a:rPr>
              <a:t>&lt;number&gt;</a:t>
            </a:fld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548280"/>
            <a:ext cx="9000000" cy="177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000000"/>
                </a:solidFill>
                <a:latin typeface="Calibri"/>
              </a:rPr>
              <a:t>Infrared Communication: Short-Range Wireless Technology</a:t>
            </a:r>
            <a:endParaRPr b="1" lang="en-US" sz="4000" spc="-1" strike="noStrike">
              <a:solidFill>
                <a:srgbClr val="dd4100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828800" y="2743200"/>
            <a:ext cx="7086600" cy="2138040"/>
          </a:xfrm>
          <a:prstGeom prst="rect">
            <a:avLst/>
          </a:prstGeom>
          <a:noFill/>
          <a:ln w="18000">
            <a:noFill/>
          </a:ln>
        </p:spPr>
        <p:txBody>
          <a:bodyPr lIns="90000" rIns="90000" tIns="45000" bIns="45000" anchor="t">
            <a:noAutofit/>
          </a:bodyPr>
          <a:p>
            <a:pPr algn="ctr">
              <a:buNone/>
            </a:pPr>
            <a:r>
              <a:rPr b="1" lang="en-US" sz="1700" spc="-1" strike="noStrike">
                <a:latin typeface="Arial"/>
              </a:rPr>
              <a:t>Presented by:</a:t>
            </a:r>
            <a:endParaRPr b="0" lang="en-US" sz="1700" spc="-1" strike="noStrike">
              <a:latin typeface="Arial"/>
            </a:endParaRPr>
          </a:p>
          <a:p>
            <a:pPr algn="ctr">
              <a:buNone/>
            </a:pPr>
            <a:endParaRPr b="0" lang="en-US" sz="1700" spc="-1" strike="noStrike">
              <a:latin typeface="Arial"/>
            </a:endParaRPr>
          </a:p>
          <a:p>
            <a:pPr algn="ctr">
              <a:buNone/>
            </a:pPr>
            <a:r>
              <a:rPr b="1" lang="en-US" sz="1700" spc="-1" strike="noStrike">
                <a:latin typeface="Arial"/>
              </a:rPr>
              <a:t>Abdus Salam</a:t>
            </a:r>
            <a:endParaRPr b="0" lang="en-US" sz="1700" spc="-1" strike="noStrike">
              <a:latin typeface="Arial"/>
            </a:endParaRPr>
          </a:p>
          <a:p>
            <a:pPr algn="ctr">
              <a:buNone/>
            </a:pPr>
            <a:r>
              <a:rPr b="0" lang="en-US" sz="1700" spc="-1" strike="noStrike">
                <a:latin typeface="Arial"/>
              </a:rPr>
              <a:t>IT-21016</a:t>
            </a:r>
            <a:endParaRPr b="0" lang="en-US" sz="1700" spc="-1" strike="noStrike">
              <a:latin typeface="Arial"/>
            </a:endParaRPr>
          </a:p>
          <a:p>
            <a:pPr algn="ctr">
              <a:buNone/>
            </a:pPr>
            <a:r>
              <a:rPr b="0" lang="en-US" sz="1700" spc="-1" strike="noStrike">
                <a:latin typeface="Arial"/>
              </a:rPr>
              <a:t>Department of Information and Communication Technology</a:t>
            </a:r>
            <a:endParaRPr b="0" lang="en-US" sz="1700" spc="-1" strike="noStrike">
              <a:latin typeface="Arial"/>
            </a:endParaRPr>
          </a:p>
          <a:p>
            <a:pPr algn="ctr">
              <a:buNone/>
            </a:pPr>
            <a:r>
              <a:rPr b="0" lang="en-US" sz="1700" spc="-1" strike="noStrike">
                <a:latin typeface="Arial"/>
              </a:rPr>
              <a:t>Mawlana Bhashani Science &amp; Technology University </a:t>
            </a:r>
            <a:endParaRPr b="0" lang="en-US" sz="1700" spc="-1" strike="noStrike">
              <a:latin typeface="Arial"/>
            </a:endParaRPr>
          </a:p>
          <a:p>
            <a:pPr algn="ctr">
              <a:buNone/>
            </a:pPr>
            <a:r>
              <a:rPr b="0" lang="en-US" sz="1700" spc="-1" strike="noStrike">
                <a:latin typeface="Arial"/>
              </a:rPr>
              <a:t>Santosh,Tangail-1902.</a:t>
            </a:r>
            <a:endParaRPr b="0" lang="en-US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Introduction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28600" y="1143000"/>
            <a:ext cx="9829800" cy="3657600"/>
          </a:xfrm>
          <a:prstGeom prst="rect">
            <a:avLst/>
          </a:prstGeom>
          <a:noFill/>
          <a:ln w="1800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Infrared means 'below red' in the electro-          magnetic spectrum.</a:t>
            </a:r>
            <a:endParaRPr b="0" lang="en-US" sz="3200" spc="-1" strike="noStrike">
              <a:latin typeface="Arial"/>
            </a:endParaRPr>
          </a:p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Wavelength: 700 nm to 1 mm.</a:t>
            </a:r>
            <a:endParaRPr b="0" lang="en-US" sz="3200" spc="-1" strike="noStrike">
              <a:latin typeface="Arial"/>
            </a:endParaRPr>
          </a:p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Used in short-range, line-of-sight                        communication.</a:t>
            </a:r>
            <a:endParaRPr b="0" lang="en-US" sz="3200" spc="-1" strike="noStrike">
              <a:latin typeface="Arial"/>
            </a:endParaRPr>
          </a:p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Example: TV and air conditioner remotes.</a:t>
            </a:r>
            <a:endParaRPr b="0" lang="en-US" sz="3200" spc="-1" strike="noStrike">
              <a:latin typeface="Arial"/>
            </a:endParaRPr>
          </a:p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Developed as a low-cost wireless alternative.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7C73EB-809F-4EDD-82E7-AFFE3C749C3A}" type="slidenum">
              <a:t>2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3551CFEE-E5EA-4F44-BC9D-9E011CA2D761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360000" y="0"/>
            <a:ext cx="9360000" cy="82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Basic Principle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457200" y="1143000"/>
            <a:ext cx="9622800" cy="3657600"/>
          </a:xfrm>
          <a:prstGeom prst="rect">
            <a:avLst/>
          </a:prstGeom>
          <a:noFill/>
          <a:ln w="1800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Communication through infrared light            waves.</a:t>
            </a:r>
            <a:endParaRPr b="0" lang="en-US" sz="320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Transmitter: Infrared LED.</a:t>
            </a:r>
            <a:endParaRPr b="0" lang="en-US" sz="320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Receiver: Photo-diode or phototransistor.</a:t>
            </a:r>
            <a:endParaRPr b="0" lang="en-US" sz="320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Data is sent as light pulses representing        binary data.</a:t>
            </a:r>
            <a:endParaRPr b="0" lang="en-US" sz="3200" spc="-1" strike="noStrike">
              <a:latin typeface="Arial"/>
            </a:endParaRPr>
          </a:p>
          <a:p>
            <a:pPr marL="216000" indent="-216000">
              <a:buClr>
                <a:srgbClr val="000000"/>
              </a:buClr>
              <a:buSzPct val="45000"/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Requires direct line-of-sight between              devices.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475A7E1-184A-42DF-9014-61DBECA16947}" type="slidenum">
              <a:t>3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6BC96D0D-9700-4259-B2F5-3E20342FFC22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Calibri"/>
              </a:rPr>
              <a:t>Types of Infrared Communication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28600" y="1143000"/>
            <a:ext cx="9851400" cy="3657600"/>
          </a:xfrm>
          <a:prstGeom prst="rect">
            <a:avLst/>
          </a:prstGeom>
          <a:noFill/>
          <a:ln w="1800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1. Point-to-Point: Direct between two                     devices (e.g., remote and TV).</a:t>
            </a:r>
            <a:endParaRPr b="0" lang="en-US" sz="3200" spc="-1" strike="noStrike">
              <a:latin typeface="Arial"/>
            </a:endParaRPr>
          </a:p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2. Diffuse: Signals reflected from walls or              ceilings.</a:t>
            </a:r>
            <a:endParaRPr b="0" lang="en-US" sz="3200" spc="-1" strike="noStrike">
              <a:latin typeface="Arial"/>
            </a:endParaRPr>
          </a:p>
          <a:p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3. Ir-DA Standard: High-speed data                        exchange between laptops or phones                (old tech).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D5E3EC9-BB4F-410A-BF38-5BFA86096CDC}" type="slidenum">
              <a:t>4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057319E0-BDE3-43BD-B091-A62C79C9E59E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Characteristics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Content Placeholder 2"/>
          <p:cNvSpPr txBox="1"/>
          <p:nvPr/>
        </p:nvSpPr>
        <p:spPr>
          <a:xfrm>
            <a:off x="711720" y="914400"/>
            <a:ext cx="8229240" cy="40449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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Range: 1 to 5 meters.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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Requires clear line-of-sight.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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Highly directional signals.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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Low power consumption.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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Data rate: Up to 16 Mbps (IrDA standard).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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Free from radio interference.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AB16161-27FF-45E6-BD0A-0C59E3B60510}" type="slidenum">
              <a:t>5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F1E37206-27EC-4ED0-A967-C7C9FCA92030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Advantages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Content Placeholder 1"/>
          <p:cNvSpPr txBox="1"/>
          <p:nvPr/>
        </p:nvSpPr>
        <p:spPr>
          <a:xfrm>
            <a:off x="457560" y="1143000"/>
            <a:ext cx="8915040" cy="3657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Low cost and easy to implement.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High security — cannot penetrate walls.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Low power usage — battery friendly.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No interference from radio signals.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Simple and reliable technology.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AD4FFDC-1148-40D8-A5E6-E2B7A5F41058}" type="slidenum">
              <a:t>6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238AA656-C31A-49D9-92CA-C003EEF11414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Disadvantages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Content Placeholder 3"/>
          <p:cNvSpPr txBox="1"/>
          <p:nvPr/>
        </p:nvSpPr>
        <p:spPr>
          <a:xfrm>
            <a:off x="457560" y="914400"/>
            <a:ext cx="9600840" cy="41148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Short communication range (1–5 meters).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Requires line-of-sight — blocked by           obstacles.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Affected by sunlight or bright indoor lights.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Slower data rate compared to Wi-Fi or      Bluetooth.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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One-to-one communication only.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F25FB51-FDFD-4440-AA70-7EAD22969321}" type="slidenum">
              <a:t>7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0E54F8E2-EE30-4E2E-8A2B-2820AFBCDEF2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Applications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Content Placeholder 4"/>
          <p:cNvSpPr txBox="1"/>
          <p:nvPr/>
        </p:nvSpPr>
        <p:spPr>
          <a:xfrm>
            <a:off x="228600" y="960840"/>
            <a:ext cx="9829800" cy="40683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Remote controls: TVs, AC,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projectors.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Wireless data transfer (older devices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with       Ir-DA).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Sensors: Motion detectors,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automatic             doors.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Security systems: Intrusion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detection.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Industrial and medical instruments.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A3D1A4-2F36-4786-8073-5232A61FF6A5}" type="slidenum">
              <a:t>8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241F13DC-E8F0-40C4-B028-0B9FF1AFB4D0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Example – TV Remote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Content Placeholder 5"/>
          <p:cNvSpPr txBox="1"/>
          <p:nvPr/>
        </p:nvSpPr>
        <p:spPr>
          <a:xfrm>
            <a:off x="457200" y="960840"/>
            <a:ext cx="9135000" cy="361116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1. Button pressed → circuit generates            binary code.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2. IR LED sends modulated light pulses.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3. TV receiver detects and decodes               signal.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4. TV performs the desired action.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79A3976-8D98-4351-B9AE-331BFC7AF8EF}" type="slidenum">
              <a:t>9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A40582E5-DBDD-4336-89B1-F5B66FC043B5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Modern Uses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Content Placeholder 6"/>
          <p:cNvSpPr txBox="1"/>
          <p:nvPr/>
        </p:nvSpPr>
        <p:spPr>
          <a:xfrm>
            <a:off x="370800" y="882000"/>
            <a:ext cx="9687600" cy="3918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641"/>
              </a:spcBef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Smart remotes and home automation         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    systems.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41"/>
              </a:spcBef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IR sensors in robotics and obstacle              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   detection.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641"/>
              </a:spcBef>
              <a:buNone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•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Thermal imaging and night-vision                 </a:t>
            </a: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    cameras.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Gesture-based control systems.</a:t>
            </a:r>
            <a:endParaRPr b="0" lang="en-US" sz="32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B6763E9-E5BC-43CB-94BA-426B252EADA8}" type="slidenum">
              <a:t>10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26A26858-B92D-4205-B4B7-80229BB31213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360000" y="92880"/>
            <a:ext cx="9360000" cy="65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Conclusion</a:t>
            </a:r>
            <a:endParaRPr b="1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Content Placeholder 7"/>
          <p:cNvSpPr txBox="1"/>
          <p:nvPr/>
        </p:nvSpPr>
        <p:spPr>
          <a:xfrm>
            <a:off x="228600" y="914400"/>
            <a:ext cx="9829800" cy="40550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Infrared is a secure, simple, and low-cost short-   range communication technology.</a:t>
            </a:r>
            <a:endParaRPr b="0" lang="en-US" sz="30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Works best for device control and sensor             applications.</a:t>
            </a:r>
            <a:endParaRPr b="0" lang="en-US" sz="30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Though replaced by Bluetooth and Wi-Fi, it          remains relevant in many embedded systems.</a:t>
            </a:r>
            <a:endParaRPr b="0" lang="en-US" sz="3000" spc="-1" strike="noStrike">
              <a:solidFill>
                <a:srgbClr val="009bdd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 </a:t>
            </a:r>
            <a:r>
              <a:rPr b="0" lang="en-US" sz="3000" spc="-1" strike="noStrike">
                <a:solidFill>
                  <a:srgbClr val="000000"/>
                </a:solidFill>
                <a:latin typeface="Calibri"/>
              </a:rPr>
              <a:t>Invisible light continues to play a visible role in    communication.</a:t>
            </a:r>
            <a:endParaRPr b="0" lang="en-US" sz="3000" spc="-1" strike="noStrike">
              <a:solidFill>
                <a:srgbClr val="009bdd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7550D7-3202-42BA-9CCE-BBC750DD3E40}" type="slidenum">
              <a:t>11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fld id="{7B8E972B-EA14-486F-A9EA-48B0B63B4890}" type="datetime1">
              <a:rPr lang="en-US"/>
              <a:t>10/31/2025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2025-10-31T20:15:24Z</dcterms:created>
  <dc:creator/>
  <dc:description/>
  <dc:language>en-US</dc:language>
  <cp:lastModifiedBy/>
  <dcterms:modified xsi:type="dcterms:W3CDTF">2025-10-31T22:37:13Z</dcterms:modified>
  <cp:revision>6</cp:revision>
  <dc:subject/>
  <dc:title>Blue Curve</dc:title>
</cp:coreProperties>
</file>